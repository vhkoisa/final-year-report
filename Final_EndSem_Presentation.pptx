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400" b="1">
                <a:solidFill>
                  <a:srgbClr val="0F2A43"/>
                </a:solidFill>
                <a:latin typeface="Calibri"/>
              </a:rPr>
              <a:t>Final End-Sem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>
                <a:solidFill>
                  <a:srgbClr val="333333"/>
                </a:solidFill>
                <a:latin typeface="Calibri"/>
              </a:rPr>
              <a:t>Enterprise Credit Decisioning Modernization, Cost Optimization, and Fraud Data Centralization</a:t>
            </a:r>
          </a:p>
          <a:p>
            <a:r>
              <a:rPr sz="1800">
                <a:solidFill>
                  <a:srgbClr val="333333"/>
                </a:solidFill>
                <a:latin typeface="Calibri"/>
              </a:rPr>
              <a:t>Vatsal Koisa | B.Tech CSE | CS402 Industrial Training</a:t>
            </a:r>
          </a:p>
          <a:p>
            <a:r>
              <a:rPr sz="1800">
                <a:solidFill>
                  <a:srgbClr val="333333"/>
                </a:solidFill>
                <a:latin typeface="Calibri"/>
              </a:rPr>
              <a:t>Date: 27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0F2A43"/>
                </a:solidFill>
                <a:latin typeface="Calibri"/>
              </a:rP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>
                <a:solidFill>
                  <a:srgbClr val="1F1F1F"/>
                </a:solidFill>
                <a:latin typeface="Calibri"/>
              </a:rPr>
              <a:t>Mid-sem recap (what was already covered)</a:t>
            </a:r>
          </a:p>
          <a:p>
            <a:pPr/>
            <a:r>
              <a:rPr sz="2400">
                <a:solidFill>
                  <a:srgbClr val="1F1F1F"/>
                </a:solidFill>
                <a:latin typeface="Calibri"/>
              </a:rPr>
              <a:t>Project 1 continuation: Decommissioning + .adb automation</a:t>
            </a:r>
          </a:p>
          <a:p>
            <a:pPr/>
            <a:r>
              <a:rPr sz="2400">
                <a:solidFill>
                  <a:srgbClr val="1F1F1F"/>
                </a:solidFill>
                <a:latin typeface="Calibri"/>
              </a:rPr>
              <a:t>Project 2: In-house stand-in decision server</a:t>
            </a:r>
          </a:p>
          <a:p>
            <a:pPr/>
            <a:r>
              <a:rPr sz="2400">
                <a:solidFill>
                  <a:srgbClr val="1F1F1F"/>
                </a:solidFill>
                <a:latin typeface="Calibri"/>
              </a:rPr>
              <a:t>Project 3: Kafka-based centralized fraud repository</a:t>
            </a:r>
          </a:p>
          <a:p>
            <a:pPr/>
            <a:r>
              <a:rPr sz="2400">
                <a:solidFill>
                  <a:srgbClr val="1F1F1F"/>
                </a:solidFill>
                <a:latin typeface="Calibri"/>
              </a:rPr>
              <a:t>Cross-project impact, limitations, and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0F2A43"/>
                </a:solidFill>
                <a:latin typeface="Calibri"/>
              </a:rPr>
              <a:t>Mid-Sem Recap (Already Covered)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>
                <a:solidFill>
                  <a:srgbClr val="1F1F1F"/>
                </a:solidFill>
                <a:latin typeface="Calibri"/>
              </a:rPr>
              <a:t>Problem context: fragmented credit decisioning platform</a:t>
            </a:r>
          </a:p>
          <a:p>
            <a:pPr/>
            <a:r>
              <a:rPr sz="2400">
                <a:solidFill>
                  <a:srgbClr val="1F1F1F"/>
                </a:solidFill>
                <a:latin typeface="Calibri"/>
              </a:rPr>
              <a:t>Architecture direction for decommissioning and consolidation</a:t>
            </a:r>
          </a:p>
          <a:p>
            <a:pPr/>
            <a:r>
              <a:rPr sz="2400">
                <a:solidFill>
                  <a:srgbClr val="1F1F1F"/>
                </a:solidFill>
                <a:latin typeface="Calibri"/>
              </a:rPr>
              <a:t>Manual .adb compile flow pain points identified</a:t>
            </a:r>
          </a:p>
          <a:p>
            <a:pPr/>
            <a:r>
              <a:rPr sz="2400">
                <a:solidFill>
                  <a:srgbClr val="1F1F1F"/>
                </a:solidFill>
                <a:latin typeface="Calibri"/>
              </a:rPr>
              <a:t>Proposed plan: automate rule compile and artifact handling</a:t>
            </a:r>
          </a:p>
          <a:p>
            <a:pPr/>
            <a:r>
              <a:rPr sz="2400">
                <a:solidFill>
                  <a:srgbClr val="1F1F1F"/>
                </a:solidFill>
                <a:latin typeface="Calibri"/>
              </a:rPr>
              <a:t>This end-sem focuses on execution outcomes and measurable impact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0F2A43"/>
                </a:solidFill>
                <a:latin typeface="Calibri"/>
              </a:rPr>
              <a:t>Project 1 Continuation: What Was Implemented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>
                <a:solidFill>
                  <a:srgbClr val="1F1F1F"/>
                </a:solidFill>
                <a:latin typeface="Calibri"/>
              </a:rPr>
              <a:t>Merged utility repositories into a cleaner central codebase</a:t>
            </a:r>
          </a:p>
          <a:p>
            <a:pPr/>
            <a:r>
              <a:rPr sz="2400">
                <a:solidFill>
                  <a:srgbClr val="1F1F1F"/>
                </a:solidFill>
                <a:latin typeface="Calibri"/>
              </a:rPr>
              <a:t>Implemented CI-triggered automatic rule compilation to .adb</a:t>
            </a:r>
          </a:p>
          <a:p>
            <a:pPr/>
            <a:r>
              <a:rPr sz="2400">
                <a:solidFill>
                  <a:srgbClr val="1F1F1F"/>
                </a:solidFill>
                <a:latin typeface="Calibri"/>
              </a:rPr>
              <a:t>Published generated artifacts to Artifactory</a:t>
            </a:r>
          </a:p>
          <a:p>
            <a:pPr/>
            <a:r>
              <a:rPr sz="2400">
                <a:solidFill>
                  <a:srgbClr val="1F1F1F"/>
                </a:solidFill>
                <a:latin typeface="Calibri"/>
              </a:rPr>
              <a:t>Introduced .adb versioning for traceability and rollback</a:t>
            </a:r>
          </a:p>
          <a:p>
            <a:pPr/>
            <a:r>
              <a:rPr sz="2400">
                <a:solidFill>
                  <a:srgbClr val="1F1F1F"/>
                </a:solidFill>
                <a:latin typeface="Calibri"/>
              </a:rPr>
              <a:t>Reduced manual dependency in rule release workflow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0F2A43"/>
                </a:solidFill>
                <a:latin typeface="Calibri"/>
              </a:rPr>
              <a:t>Project 1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374903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F2A43"/>
                </a:solidFill>
                <a:latin typeface="Calibri"/>
              </a:rPr>
              <a:t>Why</a:t>
            </a:r>
          </a:p>
          <a:p>
            <a:r>
              <a:rPr sz="1700">
                <a:solidFill>
                  <a:srgbClr val="1F1F1F"/>
                </a:solidFill>
                <a:latin typeface="Calibri"/>
              </a:rPr>
              <a:t>• Manual rule compile created delays and release risk</a:t>
            </a:r>
          </a:p>
          <a:p>
            <a:r>
              <a:rPr sz="1700">
                <a:solidFill>
                  <a:srgbClr val="1F1F1F"/>
                </a:solidFill>
                <a:latin typeface="Calibri"/>
              </a:rPr>
              <a:t>• Needed better governance for business-critical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554480"/>
            <a:ext cx="374903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F2A43"/>
                </a:solidFill>
                <a:latin typeface="Calibri"/>
              </a:rPr>
              <a:t>Technology</a:t>
            </a:r>
          </a:p>
          <a:p>
            <a:r>
              <a:rPr sz="1700">
                <a:solidFill>
                  <a:srgbClr val="1F1F1F"/>
                </a:solidFill>
                <a:latin typeface="Calibri"/>
              </a:rPr>
              <a:t>• CI pipeline automation</a:t>
            </a:r>
          </a:p>
          <a:p>
            <a:r>
              <a:rPr sz="1700">
                <a:solidFill>
                  <a:srgbClr val="1F1F1F"/>
                </a:solidFill>
                <a:latin typeface="Calibri"/>
              </a:rPr>
              <a:t>• Artifact repository integration (Artifactory)</a:t>
            </a:r>
          </a:p>
          <a:p>
            <a:r>
              <a:rPr sz="1700">
                <a:solidFill>
                  <a:srgbClr val="1F1F1F"/>
                </a:solidFill>
                <a:latin typeface="Calibri"/>
              </a:rPr>
              <a:t>• Versioned .adb build outputs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0"/>
            <a:ext cx="374903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F2A43"/>
                </a:solidFill>
                <a:latin typeface="Calibri"/>
              </a:rPr>
              <a:t>Business Impact</a:t>
            </a:r>
          </a:p>
          <a:p>
            <a:r>
              <a:rPr sz="1700">
                <a:solidFill>
                  <a:srgbClr val="1F1F1F"/>
                </a:solidFill>
                <a:latin typeface="Calibri"/>
              </a:rPr>
              <a:t>• Faster rule rollout to production</a:t>
            </a:r>
          </a:p>
          <a:p>
            <a:r>
              <a:rPr sz="1700">
                <a:solidFill>
                  <a:srgbClr val="1F1F1F"/>
                </a:solidFill>
                <a:latin typeface="Calibri"/>
              </a:rPr>
              <a:t>• Improved auditability and compliance confidence</a:t>
            </a:r>
          </a:p>
          <a:p>
            <a:r>
              <a:rPr sz="1700">
                <a:solidFill>
                  <a:srgbClr val="1F1F1F"/>
                </a:solidFill>
                <a:latin typeface="Calibri"/>
              </a:rPr>
              <a:t>• Lower operational error from manual processing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3657600"/>
            <a:ext cx="374903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F2A43"/>
                </a:solidFill>
                <a:latin typeface="Calibri"/>
              </a:rPr>
              <a:t>Limitations</a:t>
            </a:r>
          </a:p>
          <a:p>
            <a:r>
              <a:rPr sz="1700">
                <a:solidFill>
                  <a:srgbClr val="1F1F1F"/>
                </a:solidFill>
                <a:latin typeface="Calibri"/>
              </a:rPr>
              <a:t>• Pipeline reliability becomes mission-critical</a:t>
            </a:r>
          </a:p>
          <a:p>
            <a:r>
              <a:rPr sz="1700">
                <a:solidFill>
                  <a:srgbClr val="1F1F1F"/>
                </a:solidFill>
                <a:latin typeface="Calibri"/>
              </a:rPr>
              <a:t>• Legacy dependencies still require phased cleanup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0F2A43"/>
                </a:solidFill>
                <a:latin typeface="Calibri"/>
              </a:rPr>
              <a:t>Project 2: Why Build In-House Stand-In Server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>
                <a:solidFill>
                  <a:srgbClr val="1F1F1F"/>
                </a:solidFill>
                <a:latin typeface="Calibri"/>
              </a:rPr>
              <a:t>Current setup has high recurring cost (cloud + license)</a:t>
            </a:r>
          </a:p>
          <a:p>
            <a:pPr/>
            <a:r>
              <a:rPr sz="2400">
                <a:solidFill>
                  <a:srgbClr val="1F1F1F"/>
                </a:solidFill>
                <a:latin typeface="Calibri"/>
              </a:rPr>
              <a:t>Third-party dependency introduces outage and delay risk</a:t>
            </a:r>
          </a:p>
          <a:p>
            <a:pPr/>
            <a:r>
              <a:rPr sz="2400">
                <a:solidFill>
                  <a:srgbClr val="1F1F1F"/>
                </a:solidFill>
                <a:latin typeface="Calibri"/>
              </a:rPr>
              <a:t>Needed an internal fallback for business continuity</a:t>
            </a:r>
          </a:p>
          <a:p>
            <a:pPr/>
            <a:r>
              <a:rPr sz="2400">
                <a:solidFill>
                  <a:srgbClr val="1F1F1F"/>
                </a:solidFill>
                <a:latin typeface="Calibri"/>
              </a:rPr>
              <a:t>Goal: start as backup, then scale based on parity and trust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0F2A43"/>
                </a:solidFill>
                <a:latin typeface="Calibri"/>
              </a:rPr>
              <a:t>Project 2: Technology and Rollout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>
                <a:solidFill>
                  <a:srgbClr val="1F1F1F"/>
                </a:solidFill>
                <a:latin typeface="Calibri"/>
              </a:rPr>
              <a:t>Backend: Java Spring Boot</a:t>
            </a:r>
          </a:p>
          <a:p>
            <a:pPr/>
            <a:r>
              <a:rPr sz="2400">
                <a:solidFill>
                  <a:srgbClr val="1F1F1F"/>
                </a:solidFill>
                <a:latin typeface="Calibri"/>
              </a:rPr>
              <a:t>Frontend: React + TypeScript</a:t>
            </a:r>
          </a:p>
          <a:p>
            <a:pPr/>
            <a:r>
              <a:rPr sz="2400">
                <a:solidFill>
                  <a:srgbClr val="1F1F1F"/>
                </a:solidFill>
                <a:latin typeface="Calibri"/>
              </a:rPr>
              <a:t>Architecture objective: local deployable decision stand-in</a:t>
            </a:r>
          </a:p>
          <a:p>
            <a:pPr/>
            <a:r>
              <a:rPr sz="2400">
                <a:solidFill>
                  <a:srgbClr val="1F1F1F"/>
                </a:solidFill>
                <a:latin typeface="Calibri"/>
              </a:rPr>
              <a:t>Rollout strategy: backup-first, parity validation, gradual traffic shift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0F2A43"/>
                </a:solidFill>
                <a:latin typeface="Calibri"/>
              </a:rPr>
              <a:t>Project 2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374903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F2A43"/>
                </a:solidFill>
                <a:latin typeface="Calibri"/>
              </a:rPr>
              <a:t>Why</a:t>
            </a:r>
          </a:p>
          <a:p>
            <a:r>
              <a:rPr sz="1700">
                <a:solidFill>
                  <a:srgbClr val="1F1F1F"/>
                </a:solidFill>
                <a:latin typeface="Calibri"/>
              </a:rPr>
              <a:t>• Reduce vendor lock-in and recurring cost burden</a:t>
            </a:r>
          </a:p>
          <a:p>
            <a:r>
              <a:rPr sz="1700">
                <a:solidFill>
                  <a:srgbClr val="1F1F1F"/>
                </a:solidFill>
                <a:latin typeface="Calibri"/>
              </a:rPr>
              <a:t>• Maintain service continuity during external downtime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554480"/>
            <a:ext cx="374903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F2A43"/>
                </a:solidFill>
                <a:latin typeface="Calibri"/>
              </a:rPr>
              <a:t>Technology</a:t>
            </a:r>
          </a:p>
          <a:p>
            <a:r>
              <a:rPr sz="1700">
                <a:solidFill>
                  <a:srgbClr val="1F1F1F"/>
                </a:solidFill>
                <a:latin typeface="Calibri"/>
              </a:rPr>
              <a:t>• Internal API-driven decision service</a:t>
            </a:r>
          </a:p>
          <a:p>
            <a:r>
              <a:rPr sz="1700">
                <a:solidFill>
                  <a:srgbClr val="1F1F1F"/>
                </a:solidFill>
                <a:latin typeface="Calibri"/>
              </a:rPr>
              <a:t>• Phased migration with controlled exposure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0"/>
            <a:ext cx="374903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F2A43"/>
                </a:solidFill>
                <a:latin typeface="Calibri"/>
              </a:rPr>
              <a:t>Business Impact</a:t>
            </a:r>
          </a:p>
          <a:p>
            <a:r>
              <a:rPr sz="1700">
                <a:solidFill>
                  <a:srgbClr val="1F1F1F"/>
                </a:solidFill>
                <a:latin typeface="Calibri"/>
              </a:rPr>
              <a:t>• Potential multi-million dollar savings</a:t>
            </a:r>
          </a:p>
          <a:p>
            <a:r>
              <a:rPr sz="1700">
                <a:solidFill>
                  <a:srgbClr val="1F1F1F"/>
                </a:solidFill>
                <a:latin typeface="Calibri"/>
              </a:rPr>
              <a:t>• Greater strategic control on a core capability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3657600"/>
            <a:ext cx="374903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F2A43"/>
                </a:solidFill>
                <a:latin typeface="Calibri"/>
              </a:rPr>
              <a:t>Limitations</a:t>
            </a:r>
          </a:p>
          <a:p>
            <a:r>
              <a:rPr sz="1700">
                <a:solidFill>
                  <a:srgbClr val="1F1F1F"/>
                </a:solidFill>
                <a:latin typeface="Calibri"/>
              </a:rPr>
              <a:t>• Must meet enterprise-grade reliability/compliance</a:t>
            </a:r>
          </a:p>
          <a:p>
            <a:r>
              <a:rPr sz="1700">
                <a:solidFill>
                  <a:srgbClr val="1F1F1F"/>
                </a:solidFill>
                <a:latin typeface="Calibri"/>
              </a:rPr>
              <a:t>• Needs robust parity testing vs existing engine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0F2A43"/>
                </a:solidFill>
                <a:latin typeface="Calibri"/>
              </a:rPr>
              <a:t>Project 3: Fraud Handling Gap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>
                <a:solidFill>
                  <a:srgbClr val="1F1F1F"/>
                </a:solidFill>
                <a:latin typeface="Calibri"/>
              </a:rPr>
              <a:t>Identity theft signals need near-instant propagation</a:t>
            </a:r>
          </a:p>
          <a:p>
            <a:pPr/>
            <a:r>
              <a:rPr sz="2400">
                <a:solidFill>
                  <a:srgbClr val="1F1F1F"/>
                </a:solidFill>
                <a:latin typeface="Calibri"/>
              </a:rPr>
              <a:t>No centralized blocked-transaction repository existed</a:t>
            </a:r>
          </a:p>
          <a:p>
            <a:pPr/>
            <a:r>
              <a:rPr sz="2400">
                <a:solidFill>
                  <a:srgbClr val="1F1F1F"/>
                </a:solidFill>
                <a:latin typeface="Calibri"/>
              </a:rPr>
              <a:t>Cross-team visibility gap could lead to inconsistent decisions</a:t>
            </a:r>
          </a:p>
          <a:p>
            <a:pPr/>
            <a:r>
              <a:rPr sz="2400">
                <a:solidFill>
                  <a:srgbClr val="1F1F1F"/>
                </a:solidFill>
                <a:latin typeface="Calibri"/>
              </a:rPr>
              <a:t>Need a single source of truth for fraud status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0F2A43"/>
                </a:solidFill>
                <a:latin typeface="Calibri"/>
              </a:rPr>
              <a:t>Project 3: Kafka-Based Centralized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>
                <a:solidFill>
                  <a:srgbClr val="1F1F1F"/>
                </a:solidFill>
                <a:latin typeface="Calibri"/>
              </a:rPr>
              <a:t>Incoming fraud-check requests are produced to Kafka topics</a:t>
            </a:r>
          </a:p>
          <a:p>
            <a:pPr/>
            <a:r>
              <a:rPr sz="2400">
                <a:solidFill>
                  <a:srgbClr val="1F1F1F"/>
                </a:solidFill>
                <a:latin typeface="Calibri"/>
              </a:rPr>
              <a:t>Listeners consume and persist records in central repository</a:t>
            </a:r>
          </a:p>
          <a:p>
            <a:pPr/>
            <a:r>
              <a:rPr sz="2400">
                <a:solidFill>
                  <a:srgbClr val="1F1F1F"/>
                </a:solidFill>
                <a:latin typeface="Calibri"/>
              </a:rPr>
              <a:t>Post-investigation outcomes update the same repository</a:t>
            </a:r>
          </a:p>
          <a:p>
            <a:pPr/>
            <a:r>
              <a:rPr sz="2400">
                <a:solidFill>
                  <a:srgbClr val="1F1F1F"/>
                </a:solidFill>
                <a:latin typeface="Calibri"/>
              </a:rPr>
              <a:t>Stack: Java Spring Boot + Kafka + centralized data store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0F2A43"/>
                </a:solidFill>
                <a:latin typeface="Calibri"/>
              </a:rPr>
              <a:t>Project 3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374903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F2A43"/>
                </a:solidFill>
                <a:latin typeface="Calibri"/>
              </a:rPr>
              <a:t>Why</a:t>
            </a:r>
          </a:p>
          <a:p>
            <a:r>
              <a:rPr sz="1700">
                <a:solidFill>
                  <a:srgbClr val="1F1F1F"/>
                </a:solidFill>
                <a:latin typeface="Calibri"/>
              </a:rPr>
              <a:t>• Fraud response speed directly impacts loss prevention</a:t>
            </a:r>
          </a:p>
          <a:p>
            <a:r>
              <a:rPr sz="1700">
                <a:solidFill>
                  <a:srgbClr val="1F1F1F"/>
                </a:solidFill>
                <a:latin typeface="Calibri"/>
              </a:rPr>
              <a:t>• Teams need synchronized view of blocked/suspected 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554480"/>
            <a:ext cx="374903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F2A43"/>
                </a:solidFill>
                <a:latin typeface="Calibri"/>
              </a:rPr>
              <a:t>Technology</a:t>
            </a:r>
          </a:p>
          <a:p>
            <a:r>
              <a:rPr sz="1700">
                <a:solidFill>
                  <a:srgbClr val="1F1F1F"/>
                </a:solidFill>
                <a:latin typeface="Calibri"/>
              </a:rPr>
              <a:t>• Event-driven architecture with Kafka</a:t>
            </a:r>
          </a:p>
          <a:p>
            <a:r>
              <a:rPr sz="1700">
                <a:solidFill>
                  <a:srgbClr val="1F1F1F"/>
                </a:solidFill>
                <a:latin typeface="Calibri"/>
              </a:rPr>
              <a:t>• Asynchronous producer-consumer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0"/>
            <a:ext cx="374903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F2A43"/>
                </a:solidFill>
                <a:latin typeface="Calibri"/>
              </a:rPr>
              <a:t>Business Impact</a:t>
            </a:r>
          </a:p>
          <a:p>
            <a:r>
              <a:rPr sz="1700">
                <a:solidFill>
                  <a:srgbClr val="1F1F1F"/>
                </a:solidFill>
                <a:latin typeface="Calibri"/>
              </a:rPr>
              <a:t>• Reduced chance of approval during active fraud</a:t>
            </a:r>
          </a:p>
          <a:p>
            <a:r>
              <a:rPr sz="1700">
                <a:solidFill>
                  <a:srgbClr val="1F1F1F"/>
                </a:solidFill>
                <a:latin typeface="Calibri"/>
              </a:rPr>
              <a:t>• Improved traceability and operational coordination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3657600"/>
            <a:ext cx="374903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F2A43"/>
                </a:solidFill>
                <a:latin typeface="Calibri"/>
              </a:rPr>
              <a:t>Limitations</a:t>
            </a:r>
          </a:p>
          <a:p>
            <a:r>
              <a:rPr sz="1700">
                <a:solidFill>
                  <a:srgbClr val="1F1F1F"/>
                </a:solidFill>
                <a:latin typeface="Calibri"/>
              </a:rPr>
              <a:t>• Ordering, deduplication, and retries need strict controls</a:t>
            </a:r>
          </a:p>
          <a:p>
            <a:r>
              <a:rPr sz="1700">
                <a:solidFill>
                  <a:srgbClr val="1F1F1F"/>
                </a:solidFill>
                <a:latin typeface="Calibri"/>
              </a:rPr>
              <a:t>• High governance needs for privacy and retention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0F2A43"/>
                </a:solidFill>
                <a:latin typeface="Calibri"/>
              </a:rPr>
              <a:t>Combined Outcomes Across All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>
                <a:solidFill>
                  <a:srgbClr val="1F1F1F"/>
                </a:solidFill>
                <a:latin typeface="Calibri"/>
              </a:rPr>
              <a:t>Speed: faster change propagation and reduced release cycle time</a:t>
            </a:r>
          </a:p>
          <a:p>
            <a:pPr/>
            <a:r>
              <a:rPr sz="2400">
                <a:solidFill>
                  <a:srgbClr val="1F1F1F"/>
                </a:solidFill>
                <a:latin typeface="Calibri"/>
              </a:rPr>
              <a:t>Reliability: less manual error and more consistent operations</a:t>
            </a:r>
          </a:p>
          <a:p>
            <a:pPr/>
            <a:r>
              <a:rPr sz="2400">
                <a:solidFill>
                  <a:srgbClr val="1F1F1F"/>
                </a:solidFill>
                <a:latin typeface="Calibri"/>
              </a:rPr>
              <a:t>Cost: path toward lower external dependency spend</a:t>
            </a:r>
          </a:p>
          <a:p>
            <a:pPr/>
            <a:r>
              <a:rPr sz="2400">
                <a:solidFill>
                  <a:srgbClr val="1F1F1F"/>
                </a:solidFill>
                <a:latin typeface="Calibri"/>
              </a:rPr>
              <a:t>Control: stronger visibility, governance, and auditability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0F2A43"/>
                </a:solidFill>
                <a:latin typeface="Calibri"/>
              </a:rPr>
              <a:t>What I Learned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>
                <a:solidFill>
                  <a:srgbClr val="1F1F1F"/>
                </a:solidFill>
                <a:latin typeface="Calibri"/>
              </a:rPr>
              <a:t>Architecture modernization is as much process as code</a:t>
            </a:r>
          </a:p>
          <a:p>
            <a:pPr/>
            <a:r>
              <a:rPr sz="2400">
                <a:solidFill>
                  <a:srgbClr val="1F1F1F"/>
                </a:solidFill>
                <a:latin typeface="Calibri"/>
              </a:rPr>
              <a:t>Event-driven systems require reliability patterns from day one</a:t>
            </a:r>
          </a:p>
          <a:p>
            <a:pPr/>
            <a:r>
              <a:rPr sz="2400">
                <a:solidFill>
                  <a:srgbClr val="1F1F1F"/>
                </a:solidFill>
                <a:latin typeface="Calibri"/>
              </a:rPr>
              <a:t>Business impact framing is essential for technical adoption</a:t>
            </a:r>
          </a:p>
          <a:p>
            <a:pPr/>
            <a:r>
              <a:rPr sz="2400">
                <a:solidFill>
                  <a:srgbClr val="1F1F1F"/>
                </a:solidFill>
                <a:latin typeface="Calibri"/>
              </a:rPr>
              <a:t>Incremental rollout lowers risk in enterprise systems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0F2A43"/>
                </a:solidFill>
                <a:latin typeface="Calibri"/>
              </a:rPr>
              <a:t>Conclusion and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>
                <a:solidFill>
                  <a:srgbClr val="1F1F1F"/>
                </a:solidFill>
                <a:latin typeface="Calibri"/>
              </a:rPr>
              <a:t>Expand quality gates for rule compilation pipeline</a:t>
            </a:r>
          </a:p>
          <a:p>
            <a:pPr/>
            <a:r>
              <a:rPr sz="2400">
                <a:solidFill>
                  <a:srgbClr val="1F1F1F"/>
                </a:solidFill>
                <a:latin typeface="Calibri"/>
              </a:rPr>
              <a:t>Pilot stand-in server in controlled business domains</a:t>
            </a:r>
          </a:p>
          <a:p>
            <a:pPr/>
            <a:r>
              <a:rPr sz="2400">
                <a:solidFill>
                  <a:srgbClr val="1F1F1F"/>
                </a:solidFill>
                <a:latin typeface="Calibri"/>
              </a:rPr>
              <a:t>Production hardening for fraud pipeline observability</a:t>
            </a:r>
          </a:p>
          <a:p>
            <a:pPr/>
            <a:r>
              <a:rPr sz="2400">
                <a:solidFill>
                  <a:srgbClr val="1F1F1F"/>
                </a:solidFill>
                <a:latin typeface="Calibri"/>
              </a:rPr>
              <a:t>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