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574536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502920"/>
            <a:ext cx="857912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Final End-Sem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96012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0B2C52"/>
                </a:solidFill>
                <a:latin typeface="Calibri"/>
              </a:defRPr>
            </a:pPr>
            <a:r>
              <a:t>Enterprise Credit Decisioning Modernization, Cost Optimization,</a:t>
            </a:r>
          </a:p>
          <a:p>
            <a:pPr>
              <a:spcAft>
                <a:spcPts val="600"/>
              </a:spcAft>
              <a:defRPr sz="2400" b="1">
                <a:solidFill>
                  <a:srgbClr val="0B2C52"/>
                </a:solidFill>
                <a:latin typeface="Calibri"/>
              </a:defRPr>
            </a:pPr>
            <a:r>
              <a:t>and Fraud Data Centralization</a:t>
            </a:r>
          </a:p>
          <a:p>
            <a:pPr>
              <a:spcAft>
                <a:spcPts val="6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Prepared by: Vatsal Koisa (U22CS123)</a:t>
            </a:r>
          </a:p>
          <a:p>
            <a:pPr>
              <a:spcAft>
                <a:spcPts val="6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Department of Computer Science and Engineering, SVNIT Surat</a:t>
            </a:r>
          </a:p>
          <a:p>
            <a:pPr>
              <a:spcAft>
                <a:spcPts val="6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Supervised by: Dr. Naveen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574536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502920"/>
            <a:ext cx="857912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1. Mid-sem recap in one slide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2. Project 1 completion and impact (.adb automation)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3. Project 2 stand-in server: business and technical value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4. Project 3 fraud centralization with Kafka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5. Combined outcomes, limitations,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574536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502920"/>
            <a:ext cx="857912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Mid-Sem Recap (What Was Already Covered)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Identified pain points in fragmented decisioning ecosystem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Explained target architecture for decommissioning and consolidation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Presented manual .adb compile flow and release bottlenecks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Proposed CI-based automated compile and artifact governance plan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Today: continuation from plan to implementation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574536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502920"/>
            <a:ext cx="857912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Project 1: Implementation Completed Since Mid-Sem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Merged utility repos into central platform to reduce complexity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Enabled automatic .adb compilation on rule changes via CI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Published artifacts to Artifactory with proper versioning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Established traceability and rollback readiness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Reduced manual intervention in business rule releases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574536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502920"/>
            <a:ext cx="857912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Project 1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94960" cy="1965960"/>
          </a:xfrm>
          <a:prstGeom prst="roundRect">
            <a:avLst/>
          </a:prstGeom>
          <a:solidFill>
            <a:srgbClr val="F5F8FC"/>
          </a:solidFill>
          <a:ln>
            <a:solidFill>
              <a:srgbClr val="0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7"/>
            <a:ext cx="5029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B2C52"/>
                </a:solidFill>
                <a:latin typeface="Calibri"/>
              </a:defRPr>
            </a:pPr>
            <a:r>
              <a:t>Why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Manual compile flow delayed decisioning rule rollout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Needed reliable, auditable delivery 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554480"/>
            <a:ext cx="5394960" cy="1965960"/>
          </a:xfrm>
          <a:prstGeom prst="roundRect">
            <a:avLst/>
          </a:prstGeom>
          <a:solidFill>
            <a:srgbClr val="F5F8FC"/>
          </a:solidFill>
          <a:ln>
            <a:solidFill>
              <a:srgbClr val="0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64207"/>
            <a:ext cx="5029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B2C52"/>
                </a:solidFill>
                <a:latin typeface="Calibri"/>
              </a:defRPr>
            </a:pPr>
            <a:r>
              <a:t>Technology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CI-triggered .adb compile pipeline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Artifactory artifact publishing and version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5394960" cy="1965960"/>
          </a:xfrm>
          <a:prstGeom prst="roundRect">
            <a:avLst/>
          </a:prstGeom>
          <a:solidFill>
            <a:srgbClr val="FCF7F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58768"/>
            <a:ext cx="5029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67E22"/>
                </a:solidFill>
                <a:latin typeface="Calibri"/>
              </a:defRPr>
            </a:pPr>
            <a:r>
              <a:t>Business Impact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Faster policy release and improved compliance posture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Lower human error risk in operational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3749039"/>
            <a:ext cx="5394960" cy="1965960"/>
          </a:xfrm>
          <a:prstGeom prst="roundRect">
            <a:avLst/>
          </a:prstGeom>
          <a:solidFill>
            <a:srgbClr val="FCF7F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858768"/>
            <a:ext cx="5029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67E22"/>
                </a:solidFill>
                <a:latin typeface="Calibri"/>
              </a:defRPr>
            </a:pPr>
            <a:r>
              <a:t>Limitations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Pipeline uptime is now business-critical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Legacy cleanup still needs phased execution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574536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502920"/>
            <a:ext cx="857912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Project 2: In-House Decision Stand-In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94960" cy="4480560"/>
          </a:xfrm>
          <a:prstGeom prst="roundRect">
            <a:avLst/>
          </a:prstGeom>
          <a:solidFill>
            <a:srgbClr val="F5F8FC"/>
          </a:solidFill>
          <a:ln>
            <a:solidFill>
              <a:srgbClr val="0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80760" y="1554480"/>
            <a:ext cx="5394960" cy="4480560"/>
          </a:xfrm>
          <a:prstGeom prst="roundRect">
            <a:avLst/>
          </a:prstGeom>
          <a:solidFill>
            <a:srgbClr val="FCF7F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83080"/>
            <a:ext cx="49377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B2C52"/>
                </a:solidFill>
                <a:latin typeface="Calibri"/>
              </a:defRPr>
            </a:pPr>
            <a:r>
              <a:t>Why This Was Needed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t>• High recurring cost of cloud and licensed decision engines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t>• Dependency risk when third-party service is delayed/down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t>• Need a controlled internal fallback 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783080"/>
            <a:ext cx="49377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E67E22"/>
                </a:solidFill>
                <a:latin typeface="Calibri"/>
              </a:defRPr>
            </a:pPr>
            <a:r>
              <a:t>Technology and Rollout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t>• Backend: Java Spring Boot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t>• Frontend: React + TypeScript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t>• Backup-first deployment, then parity validation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t>• Gradual traffic shift after business confidence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574536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502920"/>
            <a:ext cx="857912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Project 2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94960" cy="1965960"/>
          </a:xfrm>
          <a:prstGeom prst="roundRect">
            <a:avLst/>
          </a:prstGeom>
          <a:solidFill>
            <a:srgbClr val="F5F8FC"/>
          </a:solidFill>
          <a:ln>
            <a:solidFill>
              <a:srgbClr val="0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7"/>
            <a:ext cx="5029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B2C52"/>
                </a:solidFill>
                <a:latin typeface="Calibri"/>
              </a:defRPr>
            </a:pPr>
            <a:r>
              <a:t>Why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Optimize long-term cost and reduce vendor lock-in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Increase continuity for decisioning workloads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554480"/>
            <a:ext cx="5394960" cy="1965960"/>
          </a:xfrm>
          <a:prstGeom prst="roundRect">
            <a:avLst/>
          </a:prstGeom>
          <a:solidFill>
            <a:srgbClr val="F5F8FC"/>
          </a:solidFill>
          <a:ln>
            <a:solidFill>
              <a:srgbClr val="0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64207"/>
            <a:ext cx="5029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B2C52"/>
                </a:solidFill>
                <a:latin typeface="Calibri"/>
              </a:defRPr>
            </a:pPr>
            <a:r>
              <a:t>Technology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Local deployable internal decision API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Phased adoption strategy with risk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5394960" cy="1965960"/>
          </a:xfrm>
          <a:prstGeom prst="roundRect">
            <a:avLst/>
          </a:prstGeom>
          <a:solidFill>
            <a:srgbClr val="FCF7F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58768"/>
            <a:ext cx="5029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67E22"/>
                </a:solidFill>
                <a:latin typeface="Calibri"/>
              </a:defRPr>
            </a:pPr>
            <a:r>
              <a:t>Business Impact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Potential multi-million dollar savings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Greater strategic ownership of core capability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3749039"/>
            <a:ext cx="5394960" cy="1965960"/>
          </a:xfrm>
          <a:prstGeom prst="roundRect">
            <a:avLst/>
          </a:prstGeom>
          <a:solidFill>
            <a:srgbClr val="FCF7F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858768"/>
            <a:ext cx="5029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67E22"/>
                </a:solidFill>
                <a:latin typeface="Calibri"/>
              </a:defRPr>
            </a:pPr>
            <a:r>
              <a:t>Limitations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Must match enterprise-grade reliability standards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Requires strict parity testing and governance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574536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502920"/>
            <a:ext cx="857912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Project 3: Fraud Data Centralization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94960" cy="4480560"/>
          </a:xfrm>
          <a:prstGeom prst="roundRect">
            <a:avLst/>
          </a:prstGeom>
          <a:solidFill>
            <a:srgbClr val="F5F8FC"/>
          </a:solidFill>
          <a:ln>
            <a:solidFill>
              <a:srgbClr val="0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80760" y="1554480"/>
            <a:ext cx="5394960" cy="4480560"/>
          </a:xfrm>
          <a:prstGeom prst="roundRect">
            <a:avLst/>
          </a:prstGeom>
          <a:solidFill>
            <a:srgbClr val="FCF7F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83080"/>
            <a:ext cx="49377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B2C52"/>
                </a:solidFill>
                <a:latin typeface="Calibri"/>
              </a:defRPr>
            </a:pPr>
            <a:r>
              <a:t>Problem and Motivation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t>• Identity theft alerts need near real-time action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t>• No central blocked-transaction repository existed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t>• Cross-team inconsistency risk in loan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783080"/>
            <a:ext cx="49377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E67E22"/>
                </a:solidFill>
                <a:latin typeface="Calibri"/>
              </a:defRPr>
            </a:pPr>
            <a:r>
              <a:t>Implemented Technical Flow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t>• Producer publishes incoming check requests to Kafka topic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t>• Listeners consume and update central repository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t>• Post-investigation status updates persist centrally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t>• Tech stack: Spring Boot + Kafka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574536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502920"/>
            <a:ext cx="857912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Project 3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94960" cy="1965960"/>
          </a:xfrm>
          <a:prstGeom prst="roundRect">
            <a:avLst/>
          </a:prstGeom>
          <a:solidFill>
            <a:srgbClr val="F5F8FC"/>
          </a:solidFill>
          <a:ln>
            <a:solidFill>
              <a:srgbClr val="0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7"/>
            <a:ext cx="5029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B2C52"/>
                </a:solidFill>
                <a:latin typeface="Calibri"/>
              </a:defRPr>
            </a:pPr>
            <a:r>
              <a:t>Why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Fraud handling requires fast and unified visibility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Needed single source of truth for blocked 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554480"/>
            <a:ext cx="5394960" cy="1965960"/>
          </a:xfrm>
          <a:prstGeom prst="roundRect">
            <a:avLst/>
          </a:prstGeom>
          <a:solidFill>
            <a:srgbClr val="F5F8FC"/>
          </a:solidFill>
          <a:ln>
            <a:solidFill>
              <a:srgbClr val="0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64207"/>
            <a:ext cx="5029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B2C52"/>
                </a:solidFill>
                <a:latin typeface="Calibri"/>
              </a:defRPr>
            </a:pPr>
            <a:r>
              <a:t>Technology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Event-driven integration using Kafka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Asynchronous producer-consumer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5394960" cy="1965960"/>
          </a:xfrm>
          <a:prstGeom prst="roundRect">
            <a:avLst/>
          </a:prstGeom>
          <a:solidFill>
            <a:srgbClr val="FCF7F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58768"/>
            <a:ext cx="5029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67E22"/>
                </a:solidFill>
                <a:latin typeface="Calibri"/>
              </a:defRPr>
            </a:pPr>
            <a:r>
              <a:t>Business Impact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Faster fraud response and reduced bad approvals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Improved auditability and coordination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3749039"/>
            <a:ext cx="5394960" cy="1965960"/>
          </a:xfrm>
          <a:prstGeom prst="roundRect">
            <a:avLst/>
          </a:prstGeom>
          <a:solidFill>
            <a:srgbClr val="FCF7F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858768"/>
            <a:ext cx="5029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67E22"/>
                </a:solidFill>
                <a:latin typeface="Calibri"/>
              </a:defRPr>
            </a:pPr>
            <a:r>
              <a:t>Limitations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Ordering and deduplication need strong controls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Data privacy and retention governance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574536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502920"/>
            <a:ext cx="857912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Combined End-Sem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Business: faster policy updates, stronger fraud response, cost optimization path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Technology: automation, event-driven scalability, better system ownership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Governance: improved traceability, reproducibility, and audit readiness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Execution model: practical rollout through phased, low-risk adoption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574536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502920"/>
            <a:ext cx="857912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Limitations and Risk Controls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94960" cy="4480560"/>
          </a:xfrm>
          <a:prstGeom prst="roundRect">
            <a:avLst/>
          </a:prstGeom>
          <a:solidFill>
            <a:srgbClr val="F5F8FC"/>
          </a:solidFill>
          <a:ln>
            <a:solidFill>
              <a:srgbClr val="0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80760" y="1554480"/>
            <a:ext cx="5394960" cy="4480560"/>
          </a:xfrm>
          <a:prstGeom prst="roundRect">
            <a:avLst/>
          </a:prstGeom>
          <a:solidFill>
            <a:srgbClr val="FCF7F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83080"/>
            <a:ext cx="49377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B2C52"/>
                </a:solidFill>
                <a:latin typeface="Calibri"/>
              </a:defRPr>
            </a:pPr>
            <a:r>
              <a:t>Key Limitations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t>• High dependence on pipeline and integration reliability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t>• Parity validation effort for stand-in server migration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t>• Complexity in event ordering and exactly-once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783080"/>
            <a:ext cx="49377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E67E22"/>
                </a:solidFill>
                <a:latin typeface="Calibri"/>
              </a:defRPr>
            </a:pPr>
            <a:r>
              <a:t>Controls and Mitigations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t>• Monitoring, alerting, and rollback for CI/artifact flow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t>• Pilot-first rollout with measurable acceptance criteria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t>• Idempotency keys, retries, and dead-letter topic handling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574536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502920"/>
            <a:ext cx="857912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Conclusion and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Continue quality gates for rule automation pipeline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Run controlled pilots for stand-in server adoption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Production hardening for fraud pipeline observability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Thank you -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