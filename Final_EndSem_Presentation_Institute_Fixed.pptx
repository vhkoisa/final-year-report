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74536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1856" y="502920"/>
            <a:ext cx="1143983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5345181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rPr lang="en-US" dirty="0"/>
              <a:t>  </a:t>
            </a:r>
            <a:r>
              <a:rPr dirty="0"/>
              <a:t>Final End-Sem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9601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0B2C52"/>
                </a:solidFill>
                <a:latin typeface="Calibri"/>
              </a:defRPr>
            </a:pPr>
            <a:r>
              <a:t>Enterprise Credit Decisioning Modernization, Cost Optimization,</a:t>
            </a:r>
          </a:p>
          <a:p>
            <a:pPr>
              <a:spcAft>
                <a:spcPts val="600"/>
              </a:spcAft>
              <a:defRPr sz="2400" b="1">
                <a:solidFill>
                  <a:srgbClr val="0B2C52"/>
                </a:solidFill>
                <a:latin typeface="Calibri"/>
              </a:defRPr>
            </a:pPr>
            <a:r>
              <a:t>and Fraud Data Centralization</a:t>
            </a:r>
          </a:p>
          <a:p>
            <a:pPr>
              <a:spcAft>
                <a:spcPts val="6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endParaRPr/>
          </a:p>
          <a:p>
            <a:pPr>
              <a:spcAft>
                <a:spcPts val="6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Prepared by: Vatsal Koisa (U22CS123)</a:t>
            </a:r>
          </a:p>
          <a:p>
            <a:pPr>
              <a:spcAft>
                <a:spcPts val="6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Department of Computer Science and Engineering, SVNIT Surat</a:t>
            </a:r>
          </a:p>
          <a:p>
            <a:pPr>
              <a:spcAft>
                <a:spcPts val="600"/>
              </a:spcAft>
              <a:defRPr sz="1800" b="0">
                <a:solidFill>
                  <a:srgbClr val="4A4A4A"/>
                </a:solidFill>
                <a:latin typeface="Calibri"/>
              </a:defRPr>
            </a:pPr>
            <a:r>
              <a:t>Supervised by: Dr. Naveen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74536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333458" y="563215"/>
            <a:ext cx="1143000" cy="8669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149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1. Mid-sem recap in one slide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2. Project 1 completion and impact (.adb automation)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3. Project 2 stand-in server: business and technical value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4. Project 3 fraud centralization with Kafka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5. Combined outcomes, limitations,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74536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02920"/>
            <a:ext cx="114300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Mid-Sem Recap (What Was Already Covered)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149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Identified pain points in fragmented decisioning ecosystem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Explained target architecture for decommissioning and consolidation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Presented manual .adb compile flow and release bottlenecks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Proposed CI-based automated compile and artifact governance plan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Today: continuation from plan to implementation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74536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02920"/>
            <a:ext cx="114300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Project 1: Implementation Completed Since Mid-Sem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149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Merged utility repos into central platform to reduce complexity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Enabled automatic .adb compilation on rule changes via CI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Published artifacts to Artifactory with proper versioning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Established traceability and rollback readiness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Reduced manual intervention in business rule releases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74536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02920"/>
            <a:ext cx="114300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Project 1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19659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7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B2C52"/>
                </a:solidFill>
                <a:latin typeface="Calibri"/>
              </a:defRPr>
            </a:pPr>
            <a:r>
              <a:t>Why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Manual compile flow delayed decisioning rule rollout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Needed reliable, auditable delivery process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554480"/>
            <a:ext cx="5212080" cy="19659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664207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B2C52"/>
                </a:solidFill>
                <a:latin typeface="Calibri"/>
              </a:defRPr>
            </a:pPr>
            <a:r>
              <a:t>Technology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CI-triggered .adb compile pipeline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Artifactory artifact publishing and version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212080" cy="19659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58768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67E22"/>
                </a:solidFill>
                <a:latin typeface="Calibri"/>
              </a:defRPr>
            </a:pPr>
            <a:r>
              <a:t>Business Impact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Faster policy release and improved compliance posture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Lower human error risk in operational flow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749039"/>
            <a:ext cx="5212080" cy="19659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3858768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67E22"/>
                </a:solidFill>
                <a:latin typeface="Calibri"/>
              </a:defRPr>
            </a:pPr>
            <a:r>
              <a:t>Limitations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Pipeline uptime is now business-critical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Legacy cleanup still needs phased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74536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9677" y="502920"/>
            <a:ext cx="1114486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Project 2: In-House Decision Stand-In Server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89320" y="1554480"/>
            <a:ext cx="5212080" cy="44805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4714047" cy="24160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B2C52"/>
                </a:solidFill>
                <a:latin typeface="Calibri"/>
              </a:defRPr>
            </a:pPr>
            <a:r>
              <a:rPr dirty="0"/>
              <a:t>Why This Was Needed</a:t>
            </a:r>
            <a:endParaRPr lang="en-US" dirty="0"/>
          </a:p>
          <a:p>
            <a:pPr>
              <a:defRPr sz="2300" b="1">
                <a:solidFill>
                  <a:srgbClr val="0B2C52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High recurring cost of cloud and licensed decision</a:t>
            </a:r>
            <a:endParaRPr lang="en-US" dirty="0"/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 engines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Dependency risk when third-party service is</a:t>
            </a:r>
            <a:endParaRPr lang="en-US" dirty="0"/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 delayed/down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Need a controlled internal fallback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783080"/>
            <a:ext cx="4511428" cy="20774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E67E22"/>
                </a:solidFill>
                <a:latin typeface="Calibri"/>
              </a:defRPr>
            </a:pPr>
            <a:r>
              <a:rPr dirty="0"/>
              <a:t>Technology and Rollout</a:t>
            </a:r>
            <a:endParaRPr lang="en-US" dirty="0"/>
          </a:p>
          <a:p>
            <a:pPr>
              <a:defRPr sz="2300" b="1">
                <a:solidFill>
                  <a:srgbClr val="E67E22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Backend: Java Spring Boot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Frontend: React + TypeScript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Backup-first deployment, then parity validation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Gradual traffic shift after business confidence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74536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02920"/>
            <a:ext cx="114300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Project 2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19659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7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B2C52"/>
                </a:solidFill>
                <a:latin typeface="Calibri"/>
              </a:defRPr>
            </a:pPr>
            <a:r>
              <a:t>Why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Optimize long-term cost and reduce vendor lock-in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Increase continuity for decisioning workloads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554480"/>
            <a:ext cx="5212080" cy="19659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664207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B2C52"/>
                </a:solidFill>
                <a:latin typeface="Calibri"/>
              </a:defRPr>
            </a:pPr>
            <a:r>
              <a:t>Technology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Local deployable internal decision API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Phased adoption strategy with risk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212080" cy="19659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58768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67E22"/>
                </a:solidFill>
                <a:latin typeface="Calibri"/>
              </a:defRPr>
            </a:pPr>
            <a:r>
              <a:t>Business Impact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Potential multi-million dollar savings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Greater strategic ownership of core capability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749039"/>
            <a:ext cx="5212080" cy="19659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3858768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67E22"/>
                </a:solidFill>
                <a:latin typeface="Calibri"/>
              </a:defRPr>
            </a:pPr>
            <a:r>
              <a:t>Limitations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Must match enterprise-grade reliability standards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Requires strict parity testing and governance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74536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02920"/>
            <a:ext cx="114300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Project 3: Fraud Data Centralization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89320" y="1554480"/>
            <a:ext cx="5212080" cy="44805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4697504" cy="17389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B2C52"/>
                </a:solidFill>
                <a:latin typeface="Calibri"/>
              </a:defRPr>
            </a:pPr>
            <a:r>
              <a:rPr dirty="0"/>
              <a:t>Problem and Motivation</a:t>
            </a:r>
            <a:endParaRPr lang="en-US" dirty="0"/>
          </a:p>
          <a:p>
            <a:pPr>
              <a:defRPr sz="2300" b="1">
                <a:solidFill>
                  <a:srgbClr val="0B2C52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Identity theft alerts need near real-time action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No central blocked-transaction repository existed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Cross-team inconsistency risk in loan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783080"/>
            <a:ext cx="4696670" cy="24160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E67E22"/>
                </a:solidFill>
                <a:latin typeface="Calibri"/>
              </a:defRPr>
            </a:pPr>
            <a:r>
              <a:rPr dirty="0"/>
              <a:t>Implemented Technical Flow</a:t>
            </a:r>
            <a:endParaRPr lang="en-US" dirty="0"/>
          </a:p>
          <a:p>
            <a:pPr>
              <a:defRPr sz="2300" b="1">
                <a:solidFill>
                  <a:srgbClr val="E67E22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Producer publishes incoming check requests to </a:t>
            </a:r>
            <a:endParaRPr lang="en-US" dirty="0"/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lang="en-US" dirty="0"/>
              <a:t>   </a:t>
            </a:r>
            <a:r>
              <a:rPr dirty="0"/>
              <a:t>Kafka topic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Listeners consume and update central repository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Post-investigation status updates persist centrally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Tech stack: Spring Boot + Kafka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74536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02920"/>
            <a:ext cx="114300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Project 3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19659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64207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B2C52"/>
                </a:solidFill>
                <a:latin typeface="Calibri"/>
              </a:defRPr>
            </a:pPr>
            <a:r>
              <a:t>Why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Fraud handling requires fast and unified visibility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Needed single source of truth for blocked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554480"/>
            <a:ext cx="5212080" cy="19659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664207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B2C52"/>
                </a:solidFill>
                <a:latin typeface="Calibri"/>
              </a:defRPr>
            </a:pPr>
            <a:r>
              <a:t>Technology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Event-driven integration using Kafka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Asynchronous producer-consumer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5212080" cy="19659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58768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67E22"/>
                </a:solidFill>
                <a:latin typeface="Calibri"/>
              </a:defRPr>
            </a:pPr>
            <a:r>
              <a:t>Business Impact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Faster fraud response and reduced bad approvals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Improved auditability and coordination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3749039"/>
            <a:ext cx="5212080" cy="19659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3858768"/>
            <a:ext cx="475488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E67E22"/>
                </a:solidFill>
                <a:latin typeface="Calibri"/>
              </a:defRPr>
            </a:pPr>
            <a:r>
              <a:t>Limitations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Ordering and deduplication need strong controls</a:t>
            </a:r>
          </a:p>
          <a:p>
            <a:pPr>
              <a:spcAft>
                <a:spcPts val="300"/>
              </a:spcAft>
              <a:defRPr sz="1400">
                <a:solidFill>
                  <a:srgbClr val="1F1F1F"/>
                </a:solidFill>
                <a:latin typeface="Calibri"/>
              </a:defRPr>
            </a:pPr>
            <a:r>
              <a:t>• Data privacy and retention governance required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74536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02920"/>
            <a:ext cx="114300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Combined End-Sem Outcomes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149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Business: faster policy updates, stronger fraud response, cost optimization path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Technology: automation, event-driven scalability, better system ownership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Governance: improved traceability, reproducibility, and audit readiness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Execution model: practical rollout through phased, low-risk adoption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74536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02920"/>
            <a:ext cx="114300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Limitations and Risk Controls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54480"/>
            <a:ext cx="5212080" cy="4480560"/>
          </a:xfrm>
          <a:prstGeom prst="roundRect">
            <a:avLst/>
          </a:prstGeom>
          <a:solidFill>
            <a:srgbClr val="F5F8FC"/>
          </a:solidFill>
          <a:ln>
            <a:solidFill>
              <a:srgbClr val="0B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89320" y="1554480"/>
            <a:ext cx="5212080" cy="4480560"/>
          </a:xfrm>
          <a:prstGeom prst="roundRect">
            <a:avLst/>
          </a:prstGeom>
          <a:solidFill>
            <a:srgbClr val="FCF7F2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4891532" cy="24160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B2C52"/>
                </a:solidFill>
                <a:latin typeface="Calibri"/>
              </a:defRPr>
            </a:pPr>
            <a:r>
              <a:rPr dirty="0"/>
              <a:t>Key Limitations</a:t>
            </a:r>
            <a:endParaRPr lang="en-US" dirty="0"/>
          </a:p>
          <a:p>
            <a:pPr>
              <a:defRPr sz="2300" b="1">
                <a:solidFill>
                  <a:srgbClr val="0B2C52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High dependence on pipeline and integration</a:t>
            </a:r>
            <a:endParaRPr lang="en-US" dirty="0"/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lang="en-US" dirty="0"/>
              <a:t>  </a:t>
            </a:r>
            <a:r>
              <a:rPr dirty="0"/>
              <a:t> reliability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Parity validation effort for stand-in server migration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Complexity in event ordering and exactly-once </a:t>
            </a:r>
            <a:endParaRPr lang="en-US" dirty="0"/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lang="en-US" dirty="0"/>
              <a:t>   </a:t>
            </a:r>
            <a:r>
              <a:rPr dirty="0"/>
              <a:t>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783080"/>
            <a:ext cx="5052024" cy="20774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E67E22"/>
                </a:solidFill>
                <a:latin typeface="Calibri"/>
              </a:defRPr>
            </a:pPr>
            <a:r>
              <a:rPr dirty="0"/>
              <a:t>Controls and Mitigations</a:t>
            </a:r>
            <a:endParaRPr lang="en-US" dirty="0"/>
          </a:p>
          <a:p>
            <a:pPr>
              <a:defRPr sz="2300" b="1">
                <a:solidFill>
                  <a:srgbClr val="E67E22"/>
                </a:solidFill>
                <a:latin typeface="Calibri"/>
              </a:defRPr>
            </a:pPr>
            <a:endParaRPr dirty="0"/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Monitoring, alerting, and rollback for CI/artifact flow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Pilot-first rollout with measurable acceptance criteria</a:t>
            </a:r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dirty="0"/>
              <a:t>• Idempotency keys, retries, and dead-letter topic </a:t>
            </a:r>
            <a:endParaRPr lang="en-US" dirty="0"/>
          </a:p>
          <a:p>
            <a:pPr>
              <a:spcAft>
                <a:spcPts val="600"/>
              </a:spcAft>
              <a:defRPr sz="1700">
                <a:solidFill>
                  <a:srgbClr val="1F1F1F"/>
                </a:solidFill>
                <a:latin typeface="Calibri"/>
              </a:defRPr>
            </a:pPr>
            <a:r>
              <a:rPr lang="en-US" dirty="0"/>
              <a:t>   </a:t>
            </a:r>
            <a:r>
              <a:rPr dirty="0"/>
              <a:t>handling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74536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02920"/>
            <a:ext cx="1143000" cy="822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"/>
            <a:ext cx="9418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t>Conclusion and 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101498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Continue quality gates for rule automation pipeline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Run controlled pilots for stand-in server adoption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Production hardening for fraud pipeline observability</a:t>
            </a:r>
          </a:p>
          <a:p>
            <a:pPr>
              <a:spcAft>
                <a:spcPts val="1100"/>
              </a:spcAft>
              <a:defRPr sz="2400">
                <a:solidFill>
                  <a:srgbClr val="1F1F1F"/>
                </a:solidFill>
                <a:latin typeface="Calibri"/>
              </a:defRPr>
            </a:pPr>
            <a:r>
              <a:t>Thank you - Q&amp;A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7774A-388D-A474-D0FE-8AAFC4D56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19ED0D-E69E-5F68-A1C3-B45BE7A28E8C}"/>
              </a:ext>
            </a:extLst>
          </p:cNvPr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09A9BD-49E0-B6A1-57EA-A83F4659CDF1}"/>
              </a:ext>
            </a:extLst>
          </p:cNvPr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848E95-2497-B928-54FC-9870BFC27116}"/>
              </a:ext>
            </a:extLst>
          </p:cNvPr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2C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9FDA3-CBD8-024D-FE32-FEE35D6BDE46}"/>
              </a:ext>
            </a:extLst>
          </p:cNvPr>
          <p:cNvSpPr txBox="1"/>
          <p:nvPr/>
        </p:nvSpPr>
        <p:spPr>
          <a:xfrm>
            <a:off x="320040" y="6574536"/>
            <a:ext cx="6949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CS402 Industrial Training | Final End-Sem 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2CEEDF-6A82-7058-A0B9-58947511AE1C}"/>
              </a:ext>
            </a:extLst>
          </p:cNvPr>
          <p:cNvSpPr txBox="1"/>
          <p:nvPr/>
        </p:nvSpPr>
        <p:spPr>
          <a:xfrm>
            <a:off x="9509760" y="6574536"/>
            <a:ext cx="23774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  <a:latin typeface="Calibri"/>
              </a:defRPr>
            </a:pPr>
            <a:r>
              <a:t>27 Apr 2026</a:t>
            </a:r>
          </a:p>
        </p:txBody>
      </p:sp>
      <p:pic>
        <p:nvPicPr>
          <p:cNvPr id="7" name="Picture 6" descr="svnit.png">
            <a:extLst>
              <a:ext uri="{FF2B5EF4-FFF2-40B4-BE49-F238E27FC236}">
                <a16:creationId xmlns:a16="http://schemas.microsoft.com/office/drawing/2014/main" id="{9D38163C-926C-39D4-D264-CD4FB53A1F53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502920"/>
            <a:ext cx="1143000" cy="8229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2F40BA-7AD2-1255-9E84-96CB90C14CE8}"/>
              </a:ext>
            </a:extLst>
          </p:cNvPr>
          <p:cNvSpPr txBox="1"/>
          <p:nvPr/>
        </p:nvSpPr>
        <p:spPr>
          <a:xfrm>
            <a:off x="4872534" y="3125795"/>
            <a:ext cx="314075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B2C52"/>
                </a:solidFill>
                <a:latin typeface="Calibri"/>
              </a:defRPr>
            </a:pPr>
            <a:r>
              <a:rPr lang="en-US" dirty="0"/>
              <a:t>Thank You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1039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772</Words>
  <Application>Microsoft Office PowerPoint</Application>
  <PresentationFormat>Widescreen</PresentationFormat>
  <Paragraphs>142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Vatsal Koisa</cp:lastModifiedBy>
  <cp:revision>3</cp:revision>
  <dcterms:created xsi:type="dcterms:W3CDTF">2013-01-27T09:14:16Z</dcterms:created>
  <dcterms:modified xsi:type="dcterms:W3CDTF">2026-04-27T16:37:40Z</dcterms:modified>
  <cp:category/>
</cp:coreProperties>
</file>